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1371600"/>
            <a:ext cx="4572000" cy="4572000"/>
          </a:xfrm>
          <a:prstGeom prst="ellipse">
            <a:avLst/>
          </a:prstGeom>
          <a:solidFill>
            <a:srgbClr val="FF2D78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4389120"/>
            <a:ext cx="2926080" cy="2926080"/>
          </a:xfrm>
          <a:prstGeom prst="ellipse">
            <a:avLst/>
          </a:prstGeom>
          <a:solidFill>
            <a:srgbClr val="FFA8C9">
              <a:alpha val="4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371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2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783080"/>
            <a:ext cx="8686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House and Car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Variables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840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scene in p5.js that scales and adjusts just by changing a few numbers.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4846320"/>
            <a:ext cx="2084832" cy="457200"/>
          </a:xfrm>
          <a:prstGeom prst="roundRect">
            <a:avLst>
              <a:gd name="adj" fmla="val 20000"/>
            </a:avLst>
          </a:prstGeom>
          <a:solidFill>
            <a:srgbClr val="1F111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4846320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6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 Wed, Jan 21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136392" y="4846320"/>
            <a:ext cx="1627632" cy="457200"/>
          </a:xfrm>
          <a:prstGeom prst="roundRect">
            <a:avLst>
              <a:gd name="adj" fmla="val 20000"/>
            </a:avLst>
          </a:prstGeom>
          <a:solidFill>
            <a:srgbClr val="1F111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136392" y="484632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6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Mon, Jan 26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992624" y="4846320"/>
            <a:ext cx="987552" cy="457200"/>
          </a:xfrm>
          <a:prstGeom prst="roundRect">
            <a:avLst>
              <a:gd name="adj" fmla="val 20000"/>
            </a:avLst>
          </a:prstGeom>
          <a:solidFill>
            <a:srgbClr val="1F111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992624" y="4846320"/>
            <a:ext cx="987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6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points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645920"/>
            <a:ext cx="4206240" cy="4206240"/>
          </a:xfrm>
          <a:prstGeom prst="ellipse">
            <a:avLst/>
          </a:prstGeom>
          <a:solidFill>
            <a:srgbClr val="FF2D78">
              <a:alpha val="3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966960" y="4206240"/>
            <a:ext cx="3291840" cy="3291840"/>
          </a:xfrm>
          <a:prstGeom prst="ellipse">
            <a:avLst/>
          </a:prstGeom>
          <a:solidFill>
            <a:srgbClr val="FFA8C9">
              <a:alpha val="3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WE START · WARM-UP GAME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6868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Help the AI robot get ready to build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73736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quick questions reviewing the coordinate system and shape functions from Lab 1 — open the game file and play along as a class.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788920"/>
            <a:ext cx="1325880" cy="438912"/>
          </a:xfrm>
          <a:prstGeom prst="roundRect">
            <a:avLst>
              <a:gd name="adj" fmla="val 20833"/>
            </a:avLst>
          </a:prstGeom>
          <a:solidFill>
            <a:srgbClr val="1F1116"/>
          </a:solidFill>
          <a:ln w="12700">
            <a:solidFill>
              <a:srgbClr val="FF6FA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788920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questions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075688" y="2788920"/>
            <a:ext cx="1051560" cy="438912"/>
          </a:xfrm>
          <a:prstGeom prst="roundRect">
            <a:avLst>
              <a:gd name="adj" fmla="val 20833"/>
            </a:avLst>
          </a:prstGeom>
          <a:solidFill>
            <a:srgbClr val="1F1116"/>
          </a:solidFill>
          <a:ln w="12700">
            <a:solidFill>
              <a:srgbClr val="FF6FA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075688" y="2788920"/>
            <a:ext cx="1051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~3–5 min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28416" y="2788920"/>
            <a:ext cx="1325880" cy="438912"/>
          </a:xfrm>
          <a:prstGeom prst="roundRect">
            <a:avLst>
              <a:gd name="adj" fmla="val 20833"/>
            </a:avLst>
          </a:prstGeom>
          <a:solidFill>
            <a:srgbClr val="1F1116"/>
          </a:solidFill>
          <a:ln w="12700">
            <a:solidFill>
              <a:srgbClr val="FF6FA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328416" y="2788920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class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611880"/>
            <a:ext cx="6583680" cy="1554480"/>
          </a:xfrm>
          <a:prstGeom prst="roundRect">
            <a:avLst>
              <a:gd name="adj" fmla="val 7059"/>
            </a:avLst>
          </a:prstGeom>
          <a:solidFill>
            <a:srgbClr val="1F111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8680" y="382219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2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THIS FILE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4133088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Lab2_Warmup_Game_EN.html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868680" y="457200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Double-click to open in any browser — no internet or install needed. Project it and click through as a class.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680960" y="1600200"/>
            <a:ext cx="3931920" cy="4480560"/>
          </a:xfrm>
          <a:prstGeom prst="roundRect">
            <a:avLst>
              <a:gd name="adj" fmla="val 4186"/>
            </a:avLst>
          </a:prstGeom>
          <a:solidFill>
            <a:srgbClr val="1F1116"/>
          </a:solidFill>
          <a:ln w="19050">
            <a:solidFill>
              <a:srgbClr val="FF6FA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0" y="1965960"/>
            <a:ext cx="3383280" cy="502920"/>
          </a:xfrm>
          <a:prstGeom prst="roundRect">
            <a:avLst>
              <a:gd name="adj" fmla="val 54545"/>
            </a:avLst>
          </a:prstGeom>
          <a:solidFill>
            <a:srgbClr val="FF2D7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955280" y="196596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8001000" y="27889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/ 6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8001000" y="310896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AI robot's radar just detected a signal. Roughly where is it on the grid?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8001000" y="4023360"/>
            <a:ext cx="3291840" cy="384048"/>
          </a:xfrm>
          <a:prstGeom prst="roundRect">
            <a:avLst>
              <a:gd name="adj" fmla="val 19048"/>
            </a:avLst>
          </a:prstGeom>
          <a:solidFill>
            <a:srgbClr val="FF2D78"/>
          </a:solidFill>
          <a:ln w="12700">
            <a:solidFill>
              <a:srgbClr val="FF6FA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183880" y="402336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(200, 100)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001000" y="4498848"/>
            <a:ext cx="3291840" cy="384048"/>
          </a:xfrm>
          <a:prstGeom prst="roundRect">
            <a:avLst>
              <a:gd name="adj" fmla="val 19048"/>
            </a:avLst>
          </a:prstGeom>
          <a:solidFill>
            <a:srgbClr val="241017"/>
          </a:solidFill>
          <a:ln w="12700">
            <a:solidFill>
              <a:srgbClr val="FF6FA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183880" y="449884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(400, 300)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001000" y="4974336"/>
            <a:ext cx="3291840" cy="384048"/>
          </a:xfrm>
          <a:prstGeom prst="roundRect">
            <a:avLst>
              <a:gd name="adj" fmla="val 19048"/>
            </a:avLst>
          </a:prstGeom>
          <a:solidFill>
            <a:srgbClr val="241017"/>
          </a:solidFill>
          <a:ln w="12700">
            <a:solidFill>
              <a:srgbClr val="FF6FA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183880" y="4974336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(0, 0)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001000" y="5449824"/>
            <a:ext cx="3291840" cy="384048"/>
          </a:xfrm>
          <a:prstGeom prst="roundRect">
            <a:avLst>
              <a:gd name="adj" fmla="val 19048"/>
            </a:avLst>
          </a:prstGeom>
          <a:solidFill>
            <a:srgbClr val="241017"/>
          </a:solidFill>
          <a:ln w="12700">
            <a:solidFill>
              <a:srgbClr val="FF6FA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183880" y="5449824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(100, 200)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114757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0D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you'll build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852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scene with at least one house and one car, made from basic shapes — but controlled by variables instead of hard-coded numbers.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834640"/>
            <a:ext cx="411480" cy="411480"/>
          </a:xfrm>
          <a:prstGeom prst="ellipse">
            <a:avLst/>
          </a:prstGeom>
          <a:solidFill>
            <a:srgbClr val="FF2D7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2834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278892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using variables to control position and size.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520440"/>
            <a:ext cx="411480" cy="411480"/>
          </a:xfrm>
          <a:prstGeom prst="ellipse">
            <a:avLst/>
          </a:prstGeom>
          <a:solidFill>
            <a:srgbClr val="FF2D7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3520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347472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how to build proportional layouts.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766560" y="1600200"/>
            <a:ext cx="4846320" cy="4480560"/>
          </a:xfrm>
          <a:prstGeom prst="roundRect">
            <a:avLst>
              <a:gd name="adj" fmla="val 2449"/>
            </a:avLst>
          </a:prstGeom>
          <a:solidFill>
            <a:srgbClr val="FFEAF1"/>
          </a:solidFill>
          <a:ln/>
        </p:spPr>
      </p:sp>
      <p:sp>
        <p:nvSpPr>
          <p:cNvPr id="12" name="Shape 10"/>
          <p:cNvSpPr/>
          <p:nvPr/>
        </p:nvSpPr>
        <p:spPr>
          <a:xfrm>
            <a:off x="6766560" y="4892040"/>
            <a:ext cx="4846320" cy="1188720"/>
          </a:xfrm>
          <a:prstGeom prst="rect">
            <a:avLst/>
          </a:prstGeom>
          <a:solidFill>
            <a:srgbClr val="F2A8C6"/>
          </a:solidFill>
          <a:ln/>
        </p:spPr>
      </p:sp>
      <p:sp>
        <p:nvSpPr>
          <p:cNvPr id="13" name="Shape 11"/>
          <p:cNvSpPr/>
          <p:nvPr/>
        </p:nvSpPr>
        <p:spPr>
          <a:xfrm>
            <a:off x="10515600" y="192024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00" y="3794760"/>
            <a:ext cx="146304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0D0D0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223760" y="3063240"/>
            <a:ext cx="1645920" cy="731520"/>
          </a:xfrm>
          <a:prstGeom prst="triangle">
            <a:avLst/>
          </a:prstGeom>
          <a:solidFill>
            <a:srgbClr val="FF2D78"/>
          </a:solidFill>
          <a:ln w="19050">
            <a:solidFill>
              <a:srgbClr val="0D0D0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882128" y="4389120"/>
            <a:ext cx="329184" cy="502920"/>
          </a:xfrm>
          <a:prstGeom prst="rect">
            <a:avLst/>
          </a:prstGeom>
          <a:solidFill>
            <a:srgbClr val="FF6FA8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418320" y="5029200"/>
            <a:ext cx="1737360" cy="502920"/>
          </a:xfrm>
          <a:prstGeom prst="roundRect">
            <a:avLst>
              <a:gd name="adj" fmla="val 14545"/>
            </a:avLst>
          </a:prstGeom>
          <a:solidFill>
            <a:srgbClr val="B0185B"/>
          </a:solidFill>
          <a:ln w="19050">
            <a:solidFill>
              <a:srgbClr val="0D0D0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46920" y="5367528"/>
            <a:ext cx="365760" cy="365760"/>
          </a:xfrm>
          <a:prstGeom prst="ellipse">
            <a:avLst/>
          </a:prstGeom>
          <a:solidFill>
            <a:srgbClr val="0D0D0D"/>
          </a:solidFill>
          <a:ln/>
        </p:spPr>
      </p:sp>
      <p:sp>
        <p:nvSpPr>
          <p:cNvPr id="19" name="Shape 17"/>
          <p:cNvSpPr/>
          <p:nvPr/>
        </p:nvSpPr>
        <p:spPr>
          <a:xfrm>
            <a:off x="10561320" y="5367528"/>
            <a:ext cx="365760" cy="365760"/>
          </a:xfrm>
          <a:prstGeom prst="ellipse">
            <a:avLst/>
          </a:prstGeom>
          <a:solidFill>
            <a:srgbClr val="0D0D0D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14757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START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0D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Remember: y grows downward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212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p5.js, (0, 0) is the top-left corner. x increases to the right, y increases going DOWN — the opposite of the graphs you've seen in math class.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3273552"/>
            <a:ext cx="109728" cy="109728"/>
          </a:xfrm>
          <a:prstGeom prst="ellipse">
            <a:avLst/>
          </a:prstGeom>
          <a:solidFill>
            <a:srgbClr val="FF6FA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310896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move something DOWN, increase its y value.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895344"/>
            <a:ext cx="109728" cy="109728"/>
          </a:xfrm>
          <a:prstGeom prst="ellipse">
            <a:avLst/>
          </a:prstGeom>
          <a:solidFill>
            <a:srgbClr val="FF6FA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3730752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move something RIGHT, increase its x value.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4517136"/>
            <a:ext cx="109728" cy="109728"/>
          </a:xfrm>
          <a:prstGeom prst="ellipse">
            <a:avLst/>
          </a:prstGeom>
          <a:solidFill>
            <a:srgbClr val="FF6FA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4352544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rect(x, y, w, h) starts drawing from the top-left corner of the shape.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0" y="1554480"/>
            <a:ext cx="5120640" cy="4480560"/>
          </a:xfrm>
          <a:prstGeom prst="roundRect">
            <a:avLst>
              <a:gd name="adj" fmla="val 2041"/>
            </a:avLst>
          </a:prstGeom>
          <a:solidFill>
            <a:srgbClr val="0D0D0D"/>
          </a:solidFill>
          <a:ln/>
        </p:spPr>
      </p:sp>
      <p:sp>
        <p:nvSpPr>
          <p:cNvPr id="12" name="Shape 10"/>
          <p:cNvSpPr/>
          <p:nvPr/>
        </p:nvSpPr>
        <p:spPr>
          <a:xfrm>
            <a:off x="7254240" y="1554480"/>
            <a:ext cx="0" cy="4480560"/>
          </a:xfrm>
          <a:prstGeom prst="line">
            <a:avLst/>
          </a:prstGeom>
          <a:noFill/>
          <a:ln w="12700">
            <a:solidFill>
              <a:srgbClr val="2B14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07680" y="1554480"/>
            <a:ext cx="0" cy="4480560"/>
          </a:xfrm>
          <a:prstGeom prst="line">
            <a:avLst/>
          </a:prstGeom>
          <a:noFill/>
          <a:ln w="12700">
            <a:solidFill>
              <a:srgbClr val="2B14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961120" y="1554480"/>
            <a:ext cx="0" cy="4480560"/>
          </a:xfrm>
          <a:prstGeom prst="line">
            <a:avLst/>
          </a:prstGeom>
          <a:noFill/>
          <a:ln w="12700">
            <a:solidFill>
              <a:srgbClr val="2B14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814560" y="1554480"/>
            <a:ext cx="0" cy="4480560"/>
          </a:xfrm>
          <a:prstGeom prst="line">
            <a:avLst/>
          </a:prstGeom>
          <a:noFill/>
          <a:ln w="12700">
            <a:solidFill>
              <a:srgbClr val="2B14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668000" y="1554480"/>
            <a:ext cx="0" cy="4480560"/>
          </a:xfrm>
          <a:prstGeom prst="line">
            <a:avLst/>
          </a:prstGeom>
          <a:noFill/>
          <a:ln w="12700">
            <a:solidFill>
              <a:srgbClr val="2B14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0" y="2450592"/>
            <a:ext cx="5120640" cy="0"/>
          </a:xfrm>
          <a:prstGeom prst="line">
            <a:avLst/>
          </a:prstGeom>
          <a:noFill/>
          <a:ln w="12700">
            <a:solidFill>
              <a:srgbClr val="2B14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0" y="3346704"/>
            <a:ext cx="5120640" cy="0"/>
          </a:xfrm>
          <a:prstGeom prst="line">
            <a:avLst/>
          </a:prstGeom>
          <a:noFill/>
          <a:ln w="12700">
            <a:solidFill>
              <a:srgbClr val="2B14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0" y="4242816"/>
            <a:ext cx="5120640" cy="0"/>
          </a:xfrm>
          <a:prstGeom prst="line">
            <a:avLst/>
          </a:prstGeom>
          <a:noFill/>
          <a:ln w="12700">
            <a:solidFill>
              <a:srgbClr val="2B14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0" y="5138928"/>
            <a:ext cx="5120640" cy="0"/>
          </a:xfrm>
          <a:prstGeom prst="line">
            <a:avLst/>
          </a:prstGeom>
          <a:noFill/>
          <a:ln w="12700">
            <a:solidFill>
              <a:srgbClr val="2B14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0" y="1554480"/>
            <a:ext cx="5120640" cy="0"/>
          </a:xfrm>
          <a:prstGeom prst="line">
            <a:avLst/>
          </a:prstGeom>
          <a:noFill/>
          <a:ln w="25400">
            <a:solidFill>
              <a:srgbClr val="FFA8C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0" y="1554480"/>
            <a:ext cx="0" cy="4480560"/>
          </a:xfrm>
          <a:prstGeom prst="line">
            <a:avLst/>
          </a:prstGeom>
          <a:noFill/>
          <a:ln w="25400">
            <a:solidFill>
              <a:srgbClr val="FFA8C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72784" y="1426464"/>
            <a:ext cx="256032" cy="256032"/>
          </a:xfrm>
          <a:prstGeom prst="ellipse">
            <a:avLst/>
          </a:prstGeom>
          <a:solidFill>
            <a:srgbClr val="FFA8C9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272784" y="14264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6473952" y="16276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(0,0)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10607040" y="162763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→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492240" y="55778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↓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9162288" y="3515868"/>
            <a:ext cx="109728" cy="109728"/>
          </a:xfrm>
          <a:prstGeom prst="ellipse">
            <a:avLst/>
          </a:prstGeom>
          <a:solidFill>
            <a:srgbClr val="B0185B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326880" y="343357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B3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(150, 90)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114757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CHEAT SHEET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0D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Shape functions you already know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08813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F2D9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65376"/>
            <a:ext cx="3200400" cy="457200"/>
          </a:xfrm>
          <a:prstGeom prst="roundRect">
            <a:avLst>
              <a:gd name="adj" fmla="val 12000"/>
            </a:avLst>
          </a:prstGeom>
          <a:solidFill>
            <a:srgbClr val="FF2D7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865376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rect(x, y, w, h)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4297680" y="1737360"/>
            <a:ext cx="6858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Rectangle from its top-left corner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606040"/>
            <a:ext cx="108813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F2D9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734056"/>
            <a:ext cx="3200400" cy="457200"/>
          </a:xfrm>
          <a:prstGeom prst="roundRect">
            <a:avLst>
              <a:gd name="adj" fmla="val 12000"/>
            </a:avLst>
          </a:prstGeom>
          <a:solidFill>
            <a:srgbClr val="FF6FA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2734056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ellipse(x, y, w, h)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297680" y="2606040"/>
            <a:ext cx="6858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Oval centered at (x, y)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474720"/>
            <a:ext cx="108813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F2D9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3602736"/>
            <a:ext cx="3200400" cy="457200"/>
          </a:xfrm>
          <a:prstGeom prst="roundRect">
            <a:avLst>
              <a:gd name="adj" fmla="val 12000"/>
            </a:avLst>
          </a:prstGeom>
          <a:solidFill>
            <a:srgbClr val="FFA8C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77240" y="3602736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triangle(x1,y1, x2,y2, x3,y3)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4297680" y="3474720"/>
            <a:ext cx="6858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Triangle from 3 points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343400"/>
            <a:ext cx="108813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F2D9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4471416"/>
            <a:ext cx="3200400" cy="457200"/>
          </a:xfrm>
          <a:prstGeom prst="roundRect">
            <a:avLst>
              <a:gd name="adj" fmla="val 12000"/>
            </a:avLst>
          </a:prstGeom>
          <a:solidFill>
            <a:srgbClr val="FF2D7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77240" y="4471416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line(x1,y1, x2,y2)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4297680" y="4343400"/>
            <a:ext cx="6858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 line between 2 points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5212080"/>
            <a:ext cx="108813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F2D9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5340096"/>
            <a:ext cx="3200400" cy="457200"/>
          </a:xfrm>
          <a:prstGeom prst="roundRect">
            <a:avLst>
              <a:gd name="adj" fmla="val 12000"/>
            </a:avLst>
          </a:prstGeom>
          <a:solidFill>
            <a:srgbClr val="FF6FA8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77240" y="5340096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fill(r, g, b)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4297680" y="5212080"/>
            <a:ext cx="6858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the color for what's drawn next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14757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IDEA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0D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Numbers vs. variables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hard-code every number, resizing your house means editing values scattered everywhere — and it's easy to break the proportions. Variables let one change ripple through the whole shape correctly.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5166360" cy="3794760"/>
          </a:xfrm>
          <a:prstGeom prst="roundRect">
            <a:avLst>
              <a:gd name="adj" fmla="val 2410"/>
            </a:avLst>
          </a:prstGeom>
          <a:solidFill>
            <a:srgbClr val="0D0D0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514600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HARD-CODED ✗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862072"/>
            <a:ext cx="461772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8F0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hard-coded numbers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8F0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rect(50, 200, 100, 100);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8F0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triangle(50, 200,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8F0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100, 150, 150, 200);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8F0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want it bigger? now every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8F0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number needs editing by hand,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8F0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and it's easy to get one wrong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035040" y="2331720"/>
            <a:ext cx="5166360" cy="3794760"/>
          </a:xfrm>
          <a:prstGeom prst="roundRect">
            <a:avLst>
              <a:gd name="adj" fmla="val 2410"/>
            </a:avLst>
          </a:prstGeom>
          <a:solidFill>
            <a:srgbClr val="0D0D0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309360" y="2514600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VARIABLES ✓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309360" y="2862072"/>
            <a:ext cx="461772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8F0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houseX = 50, houseY = 200;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8F0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houseWidth = 100, houseHeight = 100;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8F0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rect(houseX, houseY,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8F0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houseWidth, houseHeight);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8F0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triangle(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8F0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houseX, houseY,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8F0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houseX + houseWidth/2, houseY - 50,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8F0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houseX + houseWidth, houseY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8F0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8F0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change houseWidth once —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8F0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everything else follows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114757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0D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Naming variables for your house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each measurement a clear name — group related ones so they're easy to find later.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6035040" cy="3840480"/>
          </a:xfrm>
          <a:prstGeom prst="roundRect">
            <a:avLst>
              <a:gd name="adj" fmla="val 2381"/>
            </a:avLst>
          </a:prstGeom>
          <a:solidFill>
            <a:srgbClr val="FFEAF1"/>
          </a:solidFill>
          <a:ln/>
        </p:spPr>
      </p:sp>
      <p:sp>
        <p:nvSpPr>
          <p:cNvPr id="6" name="Shape 4"/>
          <p:cNvSpPr/>
          <p:nvPr/>
        </p:nvSpPr>
        <p:spPr>
          <a:xfrm>
            <a:off x="2651760" y="4114800"/>
            <a:ext cx="219456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0D0D0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423160" y="3108960"/>
            <a:ext cx="2651760" cy="1005840"/>
          </a:xfrm>
          <a:prstGeom prst="triangle">
            <a:avLst/>
          </a:prstGeom>
          <a:solidFill>
            <a:srgbClr val="FF2D78"/>
          </a:solidFill>
          <a:ln w="25400">
            <a:solidFill>
              <a:srgbClr val="0D0D0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0" y="4983480"/>
            <a:ext cx="548640" cy="777240"/>
          </a:xfrm>
          <a:prstGeom prst="rect">
            <a:avLst/>
          </a:prstGeom>
          <a:solidFill>
            <a:srgbClr val="FF6FA8"/>
          </a:solidFill>
          <a:ln w="19050">
            <a:solidFill>
              <a:srgbClr val="0D0D0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51760" y="5989320"/>
            <a:ext cx="2194560" cy="0"/>
          </a:xfrm>
          <a:prstGeom prst="line">
            <a:avLst/>
          </a:prstGeom>
          <a:noFill/>
          <a:ln w="19050">
            <a:solidFill>
              <a:srgbClr val="FF2D78"/>
            </a:solidFill>
            <a:prstDash val="solid"/>
            <a:headEnd type="triangle"/>
            <a:tailEnd type="triangle"/>
          </a:ln>
        </p:spPr>
      </p:sp>
      <p:sp>
        <p:nvSpPr>
          <p:cNvPr id="10" name="Text 8"/>
          <p:cNvSpPr txBox="1"/>
          <p:nvPr/>
        </p:nvSpPr>
        <p:spPr>
          <a:xfrm>
            <a:off x="2651760" y="60533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2D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houseWidth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377440" y="4114800"/>
            <a:ext cx="0" cy="1645920"/>
          </a:xfrm>
          <a:prstGeom prst="line">
            <a:avLst/>
          </a:prstGeom>
          <a:noFill/>
          <a:ln w="19050">
            <a:solidFill>
              <a:srgbClr val="FF6FA8"/>
            </a:solidFill>
            <a:prstDash val="solid"/>
            <a:headEnd type="triangle"/>
            <a:tailEnd type="triangle"/>
          </a:ln>
        </p:spPr>
      </p:sp>
      <p:sp>
        <p:nvSpPr>
          <p:cNvPr id="12" name="Text 10"/>
          <p:cNvSpPr txBox="1"/>
          <p:nvPr/>
        </p:nvSpPr>
        <p:spPr>
          <a:xfrm>
            <a:off x="1280160" y="480060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6F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houseHeight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377440" y="3108960"/>
            <a:ext cx="0" cy="1005840"/>
          </a:xfrm>
          <a:prstGeom prst="line">
            <a:avLst/>
          </a:prstGeom>
          <a:noFill/>
          <a:ln w="19050">
            <a:solidFill>
              <a:srgbClr val="FFA8C9"/>
            </a:solidFill>
            <a:prstDash val="solid"/>
            <a:headEnd type="triangle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1234440" y="32004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roofHeight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596896" y="4059936"/>
            <a:ext cx="109728" cy="109728"/>
          </a:xfrm>
          <a:prstGeom prst="ellipse">
            <a:avLst/>
          </a:prstGeom>
          <a:solidFill>
            <a:srgbClr val="B0185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2788920" y="37307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018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(houseX, houseY)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949440" y="2423160"/>
            <a:ext cx="201168" cy="201168"/>
          </a:xfrm>
          <a:prstGeom prst="rect">
            <a:avLst/>
          </a:prstGeom>
          <a:solidFill>
            <a:srgbClr val="B0185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269480" y="235000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0D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houseX, houseY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7269480" y="268833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top-left corner of the house body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949440" y="3200400"/>
            <a:ext cx="201168" cy="201168"/>
          </a:xfrm>
          <a:prstGeom prst="rect">
            <a:avLst/>
          </a:prstGeom>
          <a:solidFill>
            <a:srgbClr val="FF2D7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269480" y="312724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0D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houseWidth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7269480" y="346557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width of the house body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949440" y="3977640"/>
            <a:ext cx="201168" cy="201168"/>
          </a:xfrm>
          <a:prstGeom prst="rect">
            <a:avLst/>
          </a:prstGeom>
          <a:solidFill>
            <a:srgbClr val="FF6FA8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269480" y="390448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0D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houseHeight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7269480" y="424281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 of the house body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949440" y="4754880"/>
            <a:ext cx="201168" cy="201168"/>
          </a:xfrm>
          <a:prstGeom prst="rect">
            <a:avLst/>
          </a:prstGeom>
          <a:solidFill>
            <a:srgbClr val="FFA8C9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269480" y="468172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0D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roofHeight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7269480" y="502005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tall the triangle roof is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114757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0D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Naming variables for your car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idea: describe the car's body, then position its wheels relative to that body — not with separate hard-coded numbers.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6035040" cy="3840480"/>
          </a:xfrm>
          <a:prstGeom prst="roundRect">
            <a:avLst>
              <a:gd name="adj" fmla="val 2381"/>
            </a:avLst>
          </a:prstGeom>
          <a:solidFill>
            <a:srgbClr val="FFEAF1"/>
          </a:solidFill>
          <a:ln/>
        </p:spPr>
      </p:sp>
      <p:sp>
        <p:nvSpPr>
          <p:cNvPr id="6" name="Shape 4"/>
          <p:cNvSpPr/>
          <p:nvPr/>
        </p:nvSpPr>
        <p:spPr>
          <a:xfrm>
            <a:off x="1920240" y="4023360"/>
            <a:ext cx="3291840" cy="1005840"/>
          </a:xfrm>
          <a:prstGeom prst="roundRect">
            <a:avLst>
              <a:gd name="adj" fmla="val 10909"/>
            </a:avLst>
          </a:prstGeom>
          <a:solidFill>
            <a:srgbClr val="B0185B"/>
          </a:solidFill>
          <a:ln w="25400">
            <a:solidFill>
              <a:srgbClr val="0D0D0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423160" y="4777740"/>
            <a:ext cx="502920" cy="502920"/>
          </a:xfrm>
          <a:prstGeom prst="ellipse">
            <a:avLst/>
          </a:prstGeom>
          <a:solidFill>
            <a:srgbClr val="0D0D0D"/>
          </a:solidFill>
          <a:ln/>
        </p:spPr>
      </p:sp>
      <p:sp>
        <p:nvSpPr>
          <p:cNvPr id="8" name="Shape 6"/>
          <p:cNvSpPr/>
          <p:nvPr/>
        </p:nvSpPr>
        <p:spPr>
          <a:xfrm>
            <a:off x="4206240" y="4777740"/>
            <a:ext cx="502920" cy="502920"/>
          </a:xfrm>
          <a:prstGeom prst="ellipse">
            <a:avLst/>
          </a:prstGeom>
          <a:solidFill>
            <a:srgbClr val="0D0D0D"/>
          </a:solidFill>
          <a:ln/>
        </p:spPr>
      </p:sp>
      <p:sp>
        <p:nvSpPr>
          <p:cNvPr id="9" name="Shape 7"/>
          <p:cNvSpPr/>
          <p:nvPr/>
        </p:nvSpPr>
        <p:spPr>
          <a:xfrm>
            <a:off x="1920240" y="5715000"/>
            <a:ext cx="3291840" cy="0"/>
          </a:xfrm>
          <a:prstGeom prst="line">
            <a:avLst/>
          </a:prstGeom>
          <a:noFill/>
          <a:ln w="19050">
            <a:solidFill>
              <a:srgbClr val="FF2D78"/>
            </a:solidFill>
            <a:prstDash val="solid"/>
            <a:headEnd type="triangle"/>
            <a:tailEnd type="triangle"/>
          </a:ln>
        </p:spPr>
      </p:sp>
      <p:sp>
        <p:nvSpPr>
          <p:cNvPr id="10" name="Text 8"/>
          <p:cNvSpPr txBox="1"/>
          <p:nvPr/>
        </p:nvSpPr>
        <p:spPr>
          <a:xfrm>
            <a:off x="1920240" y="577900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2D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carWidth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865376" y="3968496"/>
            <a:ext cx="109728" cy="109728"/>
          </a:xfrm>
          <a:prstGeom prst="ellipse">
            <a:avLst/>
          </a:prstGeom>
          <a:solidFill>
            <a:srgbClr val="FF2D7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645920" y="3566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2D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(carX, carY)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286000" y="5417820"/>
            <a:ext cx="0" cy="320040"/>
          </a:xfrm>
          <a:prstGeom prst="line">
            <a:avLst/>
          </a:prstGeom>
          <a:noFill/>
          <a:ln w="19050">
            <a:solidFill>
              <a:srgbClr val="FFA8C9"/>
            </a:solidFill>
            <a:prstDash val="solid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1645920" y="57378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wheelRadius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949440" y="2423160"/>
            <a:ext cx="201168" cy="201168"/>
          </a:xfrm>
          <a:prstGeom prst="rect">
            <a:avLst/>
          </a:prstGeom>
          <a:solidFill>
            <a:srgbClr val="FF2D7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269480" y="235000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0D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carX, carY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7269480" y="268833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top-left corner of the car body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949440" y="3200400"/>
            <a:ext cx="201168" cy="201168"/>
          </a:xfrm>
          <a:prstGeom prst="rect">
            <a:avLst/>
          </a:prstGeom>
          <a:solidFill>
            <a:srgbClr val="B0185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269480" y="312724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0D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carWidth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7269480" y="346557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width of the car body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949440" y="3977640"/>
            <a:ext cx="201168" cy="201168"/>
          </a:xfrm>
          <a:prstGeom prst="rect">
            <a:avLst/>
          </a:prstGeom>
          <a:solidFill>
            <a:srgbClr val="FFA8C9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269480" y="390448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0D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wheelRadius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7269480" y="424281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of each wheel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949440" y="4754880"/>
            <a:ext cx="201168" cy="201168"/>
          </a:xfrm>
          <a:prstGeom prst="rect">
            <a:avLst/>
          </a:prstGeom>
          <a:solidFill>
            <a:srgbClr val="FF6FA8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269480" y="468172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0D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wheel position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7269480" y="502005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carX + offset (not a new hard-coded number)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114757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build your scene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02920" cy="502920"/>
          </a:xfrm>
          <a:prstGeom prst="ellipse">
            <a:avLst/>
          </a:prstGeom>
          <a:solidFill>
            <a:srgbClr val="FFA8C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5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92024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Sketch on paper first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669280" y="1920240"/>
            <a:ext cx="5852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your house and car, and label the measurements you'll turn into variables.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807208"/>
            <a:ext cx="502920" cy="502920"/>
          </a:xfrm>
          <a:prstGeom prst="ellipse">
            <a:avLst/>
          </a:prstGeom>
          <a:solidFill>
            <a:srgbClr val="FFA8C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8072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5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276148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Declare your variables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669280" y="2761488"/>
            <a:ext cx="5852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them at the top of your sketch: let houseX = 50, houseWidth = 100, and so on.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648456"/>
            <a:ext cx="502920" cy="502920"/>
          </a:xfrm>
          <a:prstGeom prst="ellipse">
            <a:avLst/>
          </a:prstGeom>
          <a:solidFill>
            <a:srgbClr val="FFA8C9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6484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5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3602736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Draw shapes using the variables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669280" y="3602736"/>
            <a:ext cx="5852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rect/ellipse/triangle call should reference a variable, not a typed-in number.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489704"/>
            <a:ext cx="502920" cy="502920"/>
          </a:xfrm>
          <a:prstGeom prst="ellipse">
            <a:avLst/>
          </a:prstGeom>
          <a:solidFill>
            <a:srgbClr val="FFA8C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44897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5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4443984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Change a value and rerun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669280" y="4443984"/>
            <a:ext cx="5852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 variable, change it, and run the sketch again.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5330952"/>
            <a:ext cx="502920" cy="502920"/>
          </a:xfrm>
          <a:prstGeom prst="ellipse">
            <a:avLst/>
          </a:prstGeom>
          <a:solidFill>
            <a:srgbClr val="FFA8C9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53309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50" dirty="0"/>
          </a:p>
        </p:txBody>
      </p:sp>
      <p:sp>
        <p:nvSpPr>
          <p:cNvPr id="22" name="Text 20"/>
          <p:cNvSpPr txBox="1"/>
          <p:nvPr/>
        </p:nvSpPr>
        <p:spPr>
          <a:xfrm>
            <a:off x="1371600" y="528523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 what breaks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5669280" y="5285232"/>
            <a:ext cx="5852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something misaligns, make it depend on the right variable instead of its own fixed number.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114757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SUBMIT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0D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Requirements &amp; deliverables checklist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F2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2066544"/>
            <a:ext cx="128016" cy="128016"/>
          </a:xfrm>
          <a:prstGeom prst="ellipse">
            <a:avLst/>
          </a:prstGeom>
          <a:solidFill>
            <a:srgbClr val="FF6FA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92024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one house and one car, made from basic shapes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843784"/>
            <a:ext cx="128016" cy="128016"/>
          </a:xfrm>
          <a:prstGeom prst="ellipse">
            <a:avLst/>
          </a:prstGeom>
          <a:solidFill>
            <a:srgbClr val="FF6FA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269748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dimensions controlled by named variables (houseX, houseWidth, carY, ...)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621024"/>
            <a:ext cx="128016" cy="128016"/>
          </a:xfrm>
          <a:prstGeom prst="ellipse">
            <a:avLst/>
          </a:prstGeom>
          <a:solidFill>
            <a:srgbClr val="FF6FA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347472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Changing a variable's value updates the drawing without breaking it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309360" y="16002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F2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09360" y="2011680"/>
            <a:ext cx="868680" cy="365760"/>
          </a:xfrm>
          <a:prstGeom prst="roundRect">
            <a:avLst>
              <a:gd name="adj" fmla="val 15000"/>
            </a:avLst>
          </a:prstGeom>
          <a:solidFill>
            <a:srgbClr val="FF2D7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309360" y="201168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7315200" y="1938528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 link to your p5.js sketch (public/shareable)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11064240" y="1938528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2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309360" y="2697480"/>
            <a:ext cx="868680" cy="365760"/>
          </a:xfrm>
          <a:prstGeom prst="roundRect">
            <a:avLst>
              <a:gd name="adj" fmla="val 15000"/>
            </a:avLst>
          </a:prstGeom>
          <a:solidFill>
            <a:srgbClr val="FF2D7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309360" y="269748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7315200" y="2624328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1–3 sentence description of your sketch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11064240" y="2624328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2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pts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09360" y="3383280"/>
            <a:ext cx="868680" cy="365760"/>
          </a:xfrm>
          <a:prstGeom prst="roundRect">
            <a:avLst>
              <a:gd name="adj" fmla="val 15000"/>
            </a:avLst>
          </a:prstGeom>
          <a:solidFill>
            <a:srgbClr val="FF2D7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309360" y="338328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7315200" y="3310128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screenshot of the sketch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11064240" y="3310128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2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309360" y="4069080"/>
            <a:ext cx="868680" cy="365760"/>
          </a:xfrm>
          <a:prstGeom prst="roundRect">
            <a:avLst>
              <a:gd name="adj" fmla="val 15000"/>
            </a:avLst>
          </a:prstGeom>
          <a:solidFill>
            <a:srgbClr val="B0185B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309360" y="406908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7315200" y="3995928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screen recording of it running (.mov/.mp4/.mpeg/.webm/.mkv)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11064240" y="3995928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2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pt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470916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FFEAF1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14400" y="4892040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0D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Both files upload together: one PDF + one video, submitted as a file upload.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914400" y="5257800"/>
            <a:ext cx="10149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sure your p5.js sketch link is set to public before pasting it into the PDF, or your grader won't be able to open it.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114757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463040"/>
            <a:ext cx="3840480" cy="3840480"/>
          </a:xfrm>
          <a:prstGeom prst="ellipse">
            <a:avLst/>
          </a:prstGeom>
          <a:solidFill>
            <a:srgbClr val="FF2D78">
              <a:alpha val="3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389120"/>
            <a:ext cx="3108960" cy="3108960"/>
          </a:xfrm>
          <a:prstGeom prst="ellipse">
            <a:avLst/>
          </a:prstGeom>
          <a:solidFill>
            <a:srgbClr val="FFA8C9">
              <a:alpha val="3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 · BEFORE YOU SUBMIT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6868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Did the idea stick?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73736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quick checks to make sure the big idea landed: variables, not hard-coded numbers. Open the game file and run it with the class before everyone submits.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788920"/>
            <a:ext cx="1325880" cy="438912"/>
          </a:xfrm>
          <a:prstGeom prst="roundRect">
            <a:avLst>
              <a:gd name="adj" fmla="val 20833"/>
            </a:avLst>
          </a:prstGeom>
          <a:solidFill>
            <a:srgbClr val="1F1116"/>
          </a:solidFill>
          <a:ln w="12700">
            <a:solidFill>
              <a:srgbClr val="FF6FA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788920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questions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075688" y="2788920"/>
            <a:ext cx="868680" cy="438912"/>
          </a:xfrm>
          <a:prstGeom prst="roundRect">
            <a:avLst>
              <a:gd name="adj" fmla="val 20833"/>
            </a:avLst>
          </a:prstGeom>
          <a:solidFill>
            <a:srgbClr val="1F1116"/>
          </a:solidFill>
          <a:ln w="12700">
            <a:solidFill>
              <a:srgbClr val="FF6FA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075688" y="2788920"/>
            <a:ext cx="868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min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145536" y="2788920"/>
            <a:ext cx="1325880" cy="438912"/>
          </a:xfrm>
          <a:prstGeom prst="roundRect">
            <a:avLst>
              <a:gd name="adj" fmla="val 20833"/>
            </a:avLst>
          </a:prstGeom>
          <a:solidFill>
            <a:srgbClr val="1F1116"/>
          </a:solidFill>
          <a:ln w="12700">
            <a:solidFill>
              <a:srgbClr val="FF6FA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145536" y="2788920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class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611880"/>
            <a:ext cx="6583680" cy="1554480"/>
          </a:xfrm>
          <a:prstGeom prst="roundRect">
            <a:avLst>
              <a:gd name="adj" fmla="val 7059"/>
            </a:avLst>
          </a:prstGeom>
          <a:solidFill>
            <a:srgbClr val="1F111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8680" y="382219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2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THIS FILE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4133088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Lab2_Closer_Game_EN.html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868680" y="457200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Double-click to open in any browser. Two of the three are quick-check questions; one is a reveal-style reflection prompt for class discussion.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680960" y="1600200"/>
            <a:ext cx="3931920" cy="4480560"/>
          </a:xfrm>
          <a:prstGeom prst="roundRect">
            <a:avLst>
              <a:gd name="adj" fmla="val 4186"/>
            </a:avLst>
          </a:prstGeom>
          <a:solidFill>
            <a:srgbClr val="1F1116"/>
          </a:solidFill>
          <a:ln w="19050">
            <a:solidFill>
              <a:srgbClr val="FF6FA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001000" y="19202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 / 3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8001000" y="2240280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the real difference between a hard-coded number and a variable?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001000" y="33832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6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about it — discuss with a neighbor, then reveal talking points.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001000" y="4114800"/>
            <a:ext cx="3291840" cy="502920"/>
          </a:xfrm>
          <a:prstGeom prst="roundRect">
            <a:avLst>
              <a:gd name="adj" fmla="val 50909"/>
            </a:avLst>
          </a:prstGeom>
          <a:solidFill>
            <a:srgbClr val="241017"/>
          </a:solidFill>
          <a:ln w="19050">
            <a:solidFill>
              <a:srgbClr val="FF2D7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001000" y="41148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2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 talking points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114757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HELP?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Resources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0881360" cy="777240"/>
          </a:xfrm>
          <a:prstGeom prst="roundRect">
            <a:avLst>
              <a:gd name="adj" fmla="val 11765"/>
            </a:avLst>
          </a:prstGeom>
          <a:solidFill>
            <a:srgbClr val="1F111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205740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Coding Train – 1.1: Coordinates and Shapes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37744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youtube.com/watch?v=yPWkPOfnGsw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898648"/>
            <a:ext cx="10881360" cy="777240"/>
          </a:xfrm>
          <a:prstGeom prst="roundRect">
            <a:avLst>
              <a:gd name="adj" fmla="val 11765"/>
            </a:avLst>
          </a:prstGeom>
          <a:solidFill>
            <a:srgbClr val="1F111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2990088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Coding Train – 5.1: Function Basics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310128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youtube.com/watch?v=wRHAitGzBrg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831336"/>
            <a:ext cx="10881360" cy="777240"/>
          </a:xfrm>
          <a:prstGeom prst="roundRect">
            <a:avLst>
              <a:gd name="adj" fmla="val 11765"/>
            </a:avLst>
          </a:prstGeom>
          <a:solidFill>
            <a:srgbClr val="1F111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3922776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Coding Train – Code! Programming with p5.js (variables)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424281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thecodingtrain.com/tracks/code-programming-with-p5-js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4764024"/>
            <a:ext cx="10881360" cy="777240"/>
          </a:xfrm>
          <a:prstGeom prst="roundRect">
            <a:avLst>
              <a:gd name="adj" fmla="val 11765"/>
            </a:avLst>
          </a:prstGeom>
          <a:solidFill>
            <a:srgbClr val="1F111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8680" y="4855464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p5.js Reference – rect, ellipse, line, fill, variables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5175504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p5js.org/reference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8064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sketch on paper first, label your measurements, then change one variable at a time and rerun.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114757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2026-08-26T14:21:52Z</dcterms:created>
  <dcterms:modified xsi:type="dcterms:W3CDTF">2026-08-26T14:21:52Z</dcterms:modified>
</cp:coreProperties>
</file>